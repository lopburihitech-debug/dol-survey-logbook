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1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4A7C5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C9972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C9972B"/>
          </a:solidFill>
          <a:ln/>
        </p:spPr>
      </p:sp>
      <p:pic>
        <p:nvPicPr>
          <p:cNvPr id="5" name="Image 0" descr="/tmp/verify4/present/icons/lan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0744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057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7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เอกสารนำเสนอโครงการ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4231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DOL Survey Logbook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สมุดช่างรังวัดออนไลน์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ระบบบันทึกและติดตามงานรังวัดที่ดินแบบครบวงจร ตั้งแต่รับเรื่องจนถึงปิดเรื่อง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C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สำหรับเจ้าหน้าที่กรมที่ดินทุกระดับ และให้ประชาชนตรวจสอบสถานะได้ด้วยตนเอง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A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นำเสนอต่อคณะกรรมการพิจารณาระบบ  •  สิงหาคม 2569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97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ที่มาของโครงการ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ปัญหาที่ระบบงานเดิมเผชิญอยู่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6F7F5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29968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tmp/verify4/present/icons/proble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58" y="2216506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933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ข้อมูลกระจัดกระจาย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235915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บันทึกงานรังวัดด้วยกระดาษ/Excel แยกกันแต่ละสำนักงาน ไม่มีศูนย์กลางข้อมูลร่วมกัน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6F7F5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29968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1" name="Image 1" descr="/tmp/verify4/present/icons/clockba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2216506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933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ติดตามความคืบหน้ายาก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52360" y="235915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ไม่มีระบบกลางที่บอกได้ทันทีว่าเรื่องรังวัดแต่ละเรื่องอยู่ขั้นตอนใด ใครรับผิดชอบ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6F7F5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178808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6" name="Image 2" descr="/tmp/verify4/present/icons/mob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8" y="4365346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142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ประชาชนต้องติดต่อเอง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20240" y="450799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ต้องโทรศัพท์หรือเดินทางมาสอบถามสถานะคำขอด้วยตนเองทุกครั้ง เสียเวลาทั้งสองฝ่าย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88620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6F7F5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178808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1" name="Image 3" descr="/tmp/verify4/present/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4365346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142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ผู้บริหารไม่เห็นภาพรวม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52360" y="450799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ไม่มีข้อมูลสรุปงานค้าง/งานล่าช้าระดับจังหวัดหรือสาขาแบบเรียลไทม์เพื่อใช้ตัดสินใจ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DOL Survey Logbook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C9972B"/>
          </a:solidFill>
          <a:ln/>
        </p:spPr>
      </p:sp>
      <p:pic>
        <p:nvPicPr>
          <p:cNvPr id="3" name="Image 0" descr="/tmp/verify4/present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7086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วัตถุประสงค์ของระบบ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92024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051560" y="2103120"/>
            <a:ext cx="411480" cy="411480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91640" y="19202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รวมข้อมูลงานรังวัดของทุกสำนักงานไว้ในระบบเดียว เข้าถึงได้จากทุกที่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22960" y="288036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51560" y="3063240"/>
            <a:ext cx="411480" cy="411480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691640" y="288036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ติดตามสถานะเรื่องรังวัดแบบเรียลไทม์ ตั้งแต่วันรับเรื่องจนถึงวันปิดเรื่อง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22960" y="384048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51560" y="4023360"/>
            <a:ext cx="411480" cy="411480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691640" y="38404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ให้ประชาชนตรวจสอบสถานะคำขอได้ด้วยตนเอง โดยไม่ต้องโทรหรือเดินทางมา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822960" y="480060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051560" y="4983480"/>
            <a:ext cx="411480" cy="411480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19" name="Text 16"/>
          <p:cNvSpPr/>
          <p:nvPr/>
        </p:nvSpPr>
        <p:spPr>
          <a:xfrm>
            <a:off x="1051560" y="4983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691640" y="4800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กำหนดสิทธิ์การเข้าถึงข้อมูลตามตำแหน่งงานจริงของกรมที่ดิน ปลอดภัยและชัดเจน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97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ภาพรวมการทำงาน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ขั้นตอนของเรื่องรังวัด 1 เรื่อง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58568" y="2903220"/>
            <a:ext cx="256032" cy="0"/>
          </a:xfrm>
          <a:prstGeom prst="line">
            <a:avLst/>
          </a:prstGeom>
          <a:noFill/>
          <a:ln w="25400">
            <a:solidFill>
              <a:srgbClr val="4A7C5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32688" y="2377440"/>
            <a:ext cx="1051560" cy="10515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tmp/verify4/present/icons/impo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578" y="2640330"/>
            <a:ext cx="525780" cy="5257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481328" y="2240280"/>
            <a:ext cx="384048" cy="384048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8" name="Text 5"/>
          <p:cNvSpPr/>
          <p:nvPr/>
        </p:nvSpPr>
        <p:spPr>
          <a:xfrm>
            <a:off x="148132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35661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รับเรื่อง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208" y="3886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บันทึกคำขอ (รว.19)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0" y="2903220"/>
            <a:ext cx="256032" cy="0"/>
          </a:xfrm>
          <a:prstGeom prst="line">
            <a:avLst/>
          </a:prstGeom>
          <a:noFill/>
          <a:ln w="25400">
            <a:solidFill>
              <a:srgbClr val="4A7C59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788920" y="2377440"/>
            <a:ext cx="1051560" cy="105156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13" name="Image 1" descr="/tmp/verify4/present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2640330"/>
            <a:ext cx="525780" cy="5257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37560" y="2240280"/>
            <a:ext cx="384048" cy="384048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15" name="Text 11"/>
          <p:cNvSpPr/>
          <p:nvPr/>
        </p:nvSpPr>
        <p:spPr>
          <a:xfrm>
            <a:off x="333756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377440" y="35661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มอบหมาย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377440" y="3886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เลือกช่างรังวัด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971032" y="2903220"/>
            <a:ext cx="256032" cy="0"/>
          </a:xfrm>
          <a:prstGeom prst="line">
            <a:avLst/>
          </a:prstGeom>
          <a:noFill/>
          <a:ln w="25400">
            <a:solidFill>
              <a:srgbClr val="4A7C59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4645152" y="2377440"/>
            <a:ext cx="1051560" cy="10515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0" name="Image 2" descr="/tmp/verify4/present/icons/calend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042" y="2640330"/>
            <a:ext cx="525780" cy="5257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193792" y="2240280"/>
            <a:ext cx="384048" cy="384048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22" name="Text 17"/>
          <p:cNvSpPr/>
          <p:nvPr/>
        </p:nvSpPr>
        <p:spPr>
          <a:xfrm>
            <a:off x="519379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233672" y="35661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นัดหมาย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233672" y="3886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ลงพื้นที่รังวัด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827264" y="2903220"/>
            <a:ext cx="256032" cy="0"/>
          </a:xfrm>
          <a:prstGeom prst="line">
            <a:avLst/>
          </a:prstGeom>
          <a:noFill/>
          <a:ln w="25400">
            <a:solidFill>
              <a:srgbClr val="4A7C59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6501384" y="2377440"/>
            <a:ext cx="1051560" cy="105156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27" name="Image 3" descr="/tmp/verify4/present/icons/checklis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274" y="2640330"/>
            <a:ext cx="525780" cy="52578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050024" y="2240280"/>
            <a:ext cx="384048" cy="384048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29" name="Text 23"/>
          <p:cNvSpPr/>
          <p:nvPr/>
        </p:nvSpPr>
        <p:spPr>
          <a:xfrm>
            <a:off x="7050024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089904" y="35661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เช็คลิสต์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089904" y="3886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บันทึกความคืบหน้า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683496" y="2903220"/>
            <a:ext cx="256032" cy="0"/>
          </a:xfrm>
          <a:prstGeom prst="line">
            <a:avLst/>
          </a:prstGeom>
          <a:noFill/>
          <a:ln w="25400">
            <a:solidFill>
              <a:srgbClr val="4A7C59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8357616" y="2377440"/>
            <a:ext cx="1051560" cy="10515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4" name="Image 4" descr="/tmp/verify4/present/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506" y="2640330"/>
            <a:ext cx="525780" cy="52578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8906256" y="2240280"/>
            <a:ext cx="384048" cy="384048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36" name="Text 29"/>
          <p:cNvSpPr/>
          <p:nvPr/>
        </p:nvSpPr>
        <p:spPr>
          <a:xfrm>
            <a:off x="8906256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7946136" y="35661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ตรวจสอบ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7946136" y="3886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หัวหน้า/ผู้มีสิทธิ์อนุมัติ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10213848" y="2377440"/>
            <a:ext cx="1051560" cy="105156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40" name="Image 5" descr="/tmp/verify4/present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6738" y="2640330"/>
            <a:ext cx="525780" cy="52578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10762488" y="2240280"/>
            <a:ext cx="384048" cy="384048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42" name="Text 34"/>
          <p:cNvSpPr/>
          <p:nvPr/>
        </p:nvSpPr>
        <p:spPr>
          <a:xfrm>
            <a:off x="1076248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9802368" y="35661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ปิดเรื่อง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9802368" y="38862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แจ้งผลประชาชน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658368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ทุกขั้นตอนถูกบันทึกเวลาและผู้ทำรายการไว้ในระบบ (audit log) เพื่อการตรวจสอบย้อนหลัง</a:t>
            </a:r>
            <a:endParaRPr lang="en-US" sz="1300" dirty="0"/>
          </a:p>
        </p:txBody>
      </p:sp>
      <p:sp>
        <p:nvSpPr>
          <p:cNvPr id="46" name="Text 3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DOL Survey Logbook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97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การเข้าถึงระบบ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กลุ่มผู้ใช้งานและขอบเขตสิทธิ์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6F7F5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74520"/>
            <a:ext cx="548640" cy="54864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6" name="Image 0" descr="/tmp/verify4/present/icons/user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9979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688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ผู้ดูแลระบบ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" y="2752344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จัดการระบบทั้งหมดทุกสำนักงาน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83280" y="16916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6F7F5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84448" y="1874520"/>
            <a:ext cx="548640" cy="54864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11" name="Image 1" descr="/tmp/verify4/present/icons/user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92" y="19979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4688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ผู้บริหาร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47872" y="2752344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ดูภาพรวมทุกสำนักงานทั่วประเทศ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6916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6F7F5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27648" y="1874520"/>
            <a:ext cx="548640" cy="54864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16" name="Image 2" descr="/tmp/verify4/present/icons/user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092" y="19979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1072" y="24688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เจ้าพนักงานที่ดินจังหวัด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91072" y="2752344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ดูแลทุกสำนักงานในจังหวัดตน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869680" y="16916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6F7F5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70848" y="1874520"/>
            <a:ext cx="548640" cy="54864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21" name="Image 3" descr="/tmp/verify4/present/icons/user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292" y="19979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34272" y="246888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หัวหน้าช่างรังวัด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034272" y="2752344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ดูแลงานในสำนักงานของตน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40080" y="33375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6F7F5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41248" y="3520440"/>
            <a:ext cx="548640" cy="54864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26" name="Image 4" descr="/tmp/verify4/present/icons/user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364388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" y="411480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เจ้าพนักงานที่ดินสาขา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04672" y="4398264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ดูแลสำนักงานสาขา + จัดการบัญชีช่างรังวัด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83280" y="33375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6F7F5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84448" y="3520440"/>
            <a:ext cx="548640" cy="54864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31" name="Image 5" descr="/tmp/verify4/present/icons/user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7892" y="364388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47872" y="411480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ช่างรังวัด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47872" y="4398264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บันทึกความคืบหน้างานที่ได้รับมอบหมาย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26480" y="33375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27648" y="3520440"/>
            <a:ext cx="548640" cy="548640"/>
          </a:xfrm>
          <a:prstGeom prst="ellipse">
            <a:avLst/>
          </a:prstGeom>
          <a:solidFill>
            <a:srgbClr val="C9972B"/>
          </a:solidFill>
          <a:ln/>
        </p:spPr>
      </p:sp>
      <p:pic>
        <p:nvPicPr>
          <p:cNvPr id="36" name="Image 6" descr="/tmp/verify4/present/icons/mobil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092" y="3643884"/>
            <a:ext cx="301752" cy="30175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91072" y="411480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ประชาชน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291072" y="4398264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3D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ตรวจสอบสถานะคำขอ ไม่ต้องเข้าสู่ระบบ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DOL Survey Logbook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97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ฟีเจอร์หลัก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การจัดการเรื่องรังวัดแบบครบวงจร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29968"/>
            <a:ext cx="777240" cy="77724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6" name="Image 0" descr="/tmp/verify4/present/icons/checkli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58" y="2216506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933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เช็คลิสต์ความคืบหน้า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235915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บันทึกสถานะผลรังวัด แผนที่ ตรวจสอบเพื่อนบ้าน และประกาศ แยกเป็นขั้นตอนชัดเจน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29968"/>
            <a:ext cx="777240" cy="77724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11" name="Image 1" descr="/tmp/verify4/present/icons/archiv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2216506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933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แนบเอกสารประกอบเรื่อง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52360" y="235915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อัปโหลดเอกสาร/รูปภาพประกอบแต่ละเรื่องรังวัด เก็บรวมไว้ในที่เดียว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178808"/>
            <a:ext cx="777240" cy="77724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16" name="Image 2" descr="/tmp/verify4/present/icons/clockba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8" y="4365346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142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ประวัติการเปลี่ยนแปลง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20240" y="450799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บันทึกทุกการเปลี่ยนสถานะและผู้ทำรายการ ตรวจสอบย้อนหลังได้เสมอ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88620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178808"/>
            <a:ext cx="777240" cy="77724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21" name="Image 3" descr="/tmp/verify4/present/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4365346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142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มอบหมาย/เปลี่ยนช่างรังวัด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52360" y="450799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ผู้มีสิทธิ์สามารถมอบหมายหรือย้ายช่างรังวัดผู้รับผิดชอบได้ตามความเหมาะสม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DOL Survey Logbook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97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ฟีเจอร์หลัก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การนัดหมายและแดชบอร์ดผู้บริหาร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74920" cy="4023360"/>
          </a:xfrm>
          <a:prstGeom prst="roundRect">
            <a:avLst>
              <a:gd name="adj" fmla="val 3182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822960" cy="822960"/>
          </a:xfrm>
          <a:prstGeom prst="ellipse">
            <a:avLst/>
          </a:prstGeom>
          <a:solidFill>
            <a:srgbClr val="C9972B"/>
          </a:solidFill>
          <a:ln/>
        </p:spPr>
      </p:sp>
      <p:pic>
        <p:nvPicPr>
          <p:cNvPr id="6" name="Image 0" descr="/tmp/verify4/present/icons/calend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22549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1031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ปฏิทินนัดหมายรังวัด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017520"/>
            <a:ext cx="4343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ดูนัดหมายรายวันและรายเดือนของช่างรังวัดแต่ละคน
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เห็นภาพรวมงานที่นัดหมายไว้ล่วงหน้าทั้งสำนักงาน
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E8ECE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ลดการนัดซ้ำซ้อนหรือลืมนัดหมาย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074920" cy="4023360"/>
          </a:xfrm>
          <a:prstGeom prst="roundRect">
            <a:avLst>
              <a:gd name="adj" fmla="val 3182"/>
            </a:avLst>
          </a:prstGeom>
          <a:solidFill>
            <a:srgbClr val="F6F7F5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57400"/>
            <a:ext cx="822960" cy="82296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11" name="Image 1" descr="/tmp/verify4/present/icons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470" y="22549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1031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แดชบอร์ดสรุปภาพรวม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343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สรุปจำนวนเรื่องตามสถานะ แยกตามสำนักงาน/จังหวัด
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แจ้งเตือนเรื่องที่ใกล้เกินกำหนดหรือเกินกำหนดแล้ว (SLA)
</a:t>
            </a:r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• ใช้ประกอบการตัดสินใจบริหารจัดการกำลังคน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DOL Survey Logbook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97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ฟีเจอร์หลัก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บริการประชาชนและการนำเข้าข้อมูล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7492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822960" cy="82296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tmp/verify4/present/icons/mob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22549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0632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ประชาชนตรวจสอบสถานะได้เอง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05840" y="374904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กรอกเพียงเลขที่คำขอและเบอร์โทร 4 ตัวท้าย ก็ดูสถานะงานรังวัดของตนเองได้ทันที โดยไม่ต้องสมัครสมาชิกหรือเข้าสู่ระบบ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07492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57400"/>
            <a:ext cx="822960" cy="822960"/>
          </a:xfrm>
          <a:prstGeom prst="ellipse">
            <a:avLst/>
          </a:prstGeom>
          <a:solidFill>
            <a:srgbClr val="4A7C59"/>
          </a:solidFill>
          <a:ln/>
        </p:spPr>
      </p:sp>
      <p:pic>
        <p:nvPicPr>
          <p:cNvPr id="11" name="Image 1" descr="/tmp/verify4/present/icons/impo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470" y="22549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30632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นำเข้างานค้างจำนวนมาก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537960" y="374904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รองรับการนำเข้าเรื่องรังวัดค้างเดิมจากไฟล์ Excel/CSV ได้ทีเดียวจำนวนมาก ไม่ต้องพิมพ์ทีละเรื่อง พร้อมแจ้งแถวที่ข้อมูลไม่ครบให้แก้ไข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DOL Survey Logbook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C9972B"/>
          </a:solidFill>
          <a:ln/>
        </p:spPr>
      </p:sp>
      <p:pic>
        <p:nvPicPr>
          <p:cNvPr id="3" name="Image 0" descr="/tmp/verify4/present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7086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ความปลอดภัยของข้อมูล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896112" y="2103120"/>
            <a:ext cx="594360" cy="594360"/>
          </a:xfrm>
          <a:prstGeom prst="ellipse">
            <a:avLst/>
          </a:prstGeom>
          <a:solidFill>
            <a:srgbClr val="C9972B"/>
          </a:solidFill>
          <a:ln/>
        </p:spPr>
      </p:sp>
      <p:pic>
        <p:nvPicPr>
          <p:cNvPr id="7" name="Image 1" descr="/tmp/verify4/present/icons/user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43" y="2236851"/>
            <a:ext cx="326898" cy="3268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9536" y="278892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กำหนดสิทธิ์ตามตำแหน่งงานจริง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59536" y="320040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ระดับสิทธิ์ตรงตามโครงสร้างงานจริงของกรมที่ดิน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297680" y="187452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4553712" y="2103120"/>
            <a:ext cx="594360" cy="594360"/>
          </a:xfrm>
          <a:prstGeom prst="ellipse">
            <a:avLst/>
          </a:prstGeom>
          <a:solidFill>
            <a:srgbClr val="C9972B"/>
          </a:solidFill>
          <a:ln/>
        </p:spPr>
      </p:sp>
      <p:pic>
        <p:nvPicPr>
          <p:cNvPr id="12" name="Image 2" descr="/tmp/verify4/present/icons/ke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443" y="2236851"/>
            <a:ext cx="326898" cy="3268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17136" y="278892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เข้ารหัสรหัสผ่าน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17136" y="320040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มาตรฐาน PBKDF2-SHA256 ไม่เก็บรหัสผ่านแบบข้อความล้วน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955280" y="187452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8211312" y="2103120"/>
            <a:ext cx="594360" cy="594360"/>
          </a:xfrm>
          <a:prstGeom prst="ellipse">
            <a:avLst/>
          </a:prstGeom>
          <a:solidFill>
            <a:srgbClr val="C9972B"/>
          </a:solidFill>
          <a:ln/>
        </p:spPr>
      </p:sp>
      <p:pic>
        <p:nvPicPr>
          <p:cNvPr id="17" name="Image 3" descr="/tmp/verify4/present/icons/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5043" y="2236851"/>
            <a:ext cx="326898" cy="3268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174736" y="278892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ยืนยันตัวตน 2 ชั้น (2FA)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8174736" y="320040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รองรับรหัสผ่านครั้งเดียว (TOTP) เพิ่มความปลอดภัยการเข้าสู่ระบบ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40080" y="39776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896112" y="4206240"/>
            <a:ext cx="594360" cy="594360"/>
          </a:xfrm>
          <a:prstGeom prst="ellipse">
            <a:avLst/>
          </a:prstGeom>
          <a:solidFill>
            <a:srgbClr val="C9972B"/>
          </a:solidFill>
          <a:ln/>
        </p:spPr>
      </p:sp>
      <p:pic>
        <p:nvPicPr>
          <p:cNvPr id="22" name="Image 4" descr="/tmp/verify4/present/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843" y="4339971"/>
            <a:ext cx="326898" cy="32689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9536" y="489204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ล็อกบัญชีอัตโนมัติ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859536" y="530352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ล็อกชั่วคราวเมื่อพยายามเข้าระบบผิดพลาดหลายครั้งเกินกำหนด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297680" y="39776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Shape 19"/>
          <p:cNvSpPr/>
          <p:nvPr/>
        </p:nvSpPr>
        <p:spPr>
          <a:xfrm>
            <a:off x="4553712" y="4206240"/>
            <a:ext cx="594360" cy="594360"/>
          </a:xfrm>
          <a:prstGeom prst="ellipse">
            <a:avLst/>
          </a:prstGeom>
          <a:solidFill>
            <a:srgbClr val="C9972B"/>
          </a:solidFill>
          <a:ln/>
        </p:spPr>
      </p:sp>
      <p:pic>
        <p:nvPicPr>
          <p:cNvPr id="27" name="Image 5" descr="/tmp/verify4/present/icons/clockba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7443" y="4339971"/>
            <a:ext cx="326898" cy="32689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517136" y="489204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บันทึก Audit Log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4517136" y="530352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บันทึกการเปลี่ยนแปลงข้อมูลสำคัญทุกครั้งพร้อมผู้ทำรายการ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7955280" y="397764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Shape 23"/>
          <p:cNvSpPr/>
          <p:nvPr/>
        </p:nvSpPr>
        <p:spPr>
          <a:xfrm>
            <a:off x="8211312" y="4206240"/>
            <a:ext cx="594360" cy="594360"/>
          </a:xfrm>
          <a:prstGeom prst="ellipse">
            <a:avLst/>
          </a:prstGeom>
          <a:solidFill>
            <a:srgbClr val="C9972B"/>
          </a:solidFill>
          <a:ln/>
        </p:spPr>
      </p:sp>
      <p:pic>
        <p:nvPicPr>
          <p:cNvPr id="32" name="Image 6" descr="/tmp/verify4/present/icons/databas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5043" y="4339971"/>
            <a:ext cx="326898" cy="32689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174736" y="4892040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สำรองข้อมูลอัตโนมัติ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8174736" y="530352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มีระบบสำรองฐานข้อมูลเป็นระยะ ป้องกันข้อมูลสูญหาย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97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ด้านเทคนิค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สถาปัตยกรรมและเทคโนโลยีที่ใช้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6F7F5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29968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6" name="Image 0" descr="/tmp/verify4/present/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58" y="2216506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933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Backend: Python (Flask)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235915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ออกแบบเป็น REST API แยกส่วนชัดเจน ดูแล/ต่อยอดง่าย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6F7F5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29968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1" name="Image 1" descr="/tmp/verify4/present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2216506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933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ฐานข้อมูลยืดหยุ่น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52360" y="235915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เริ่มต้นด้วย SQLite และรองรับ PostgreSQL เมื่อขยายหลายสำนักงานพร้อมกัน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6F7F5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178808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6" name="Image 2" descr="/tmp/verify4/present/icons/cloud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8" y="4365346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142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บรรจุด้วย Docker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20240" y="450799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 ได้รวดเร็วบนหลายแพลตฟอร์ม (Railway, Render, Fly.io หรือเซิร์ฟเวอร์ของกรม)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886200"/>
            <a:ext cx="5074920" cy="1828800"/>
          </a:xfrm>
          <a:prstGeom prst="roundRect">
            <a:avLst>
              <a:gd name="adj" fmla="val 6000"/>
            </a:avLst>
          </a:prstGeom>
          <a:solidFill>
            <a:srgbClr val="F6F7F5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178808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1" name="Image 3" descr="/tmp/verify4/present/icons/archi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4365346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142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สำรองข้อมูลถาวร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52360" y="450799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Volume เก็บฐานข้อมูลแยกจากตัวแอปพลิเคชัน พร้อมสคริปต์สำรองอัตโนมัติ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DOL Survey Logbook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97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สถานะโครงการ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พร้อมให้ทดลองใช้งานแล้ววันนี้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38100" dir="5400000">
              <a:srgbClr val="1B433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914400" cy="914400"/>
          </a:xfrm>
          <a:prstGeom prst="ellipse">
            <a:avLst/>
          </a:prstGeom>
          <a:solidFill>
            <a:srgbClr val="C9972B"/>
          </a:solidFill>
          <a:ln/>
        </p:spPr>
      </p:sp>
      <p:pic>
        <p:nvPicPr>
          <p:cNvPr id="6" name="Image 0" descr="/tmp/verify4/present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2631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01168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ระบบพัฒนาเสร็จสมบูรณ์และเปิดให้ทดลองใช้งานออนไลน์แล้ว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11680" y="248716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web-production-6d6f71.up.railway.app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36118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ทดสอบการทำงานของทุกบทบาทผู้ใช้งานและฟีเจอร์หลักเรียบร้อยแล้ว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80160" y="43891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ใช้ข้อมูลตัวอย่าง/บัญชีทดสอบเท่านั้น ยังไม่ใช่ข้อมูลจริงของประชาชน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80160" y="51663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รอผลการพิจารณาและข้อเสนอแนะจากคณะกรรมการ ก่อนวางแผนใช้งานจริง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DOL Survey Logbook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4A7C59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914400" cy="914400"/>
          </a:xfrm>
          <a:prstGeom prst="ellipse">
            <a:avLst/>
          </a:prstGeom>
          <a:solidFill>
            <a:srgbClr val="C9972B"/>
          </a:solidFill>
          <a:ln/>
        </p:spPr>
      </p:sp>
      <p:pic>
        <p:nvPicPr>
          <p:cNvPr id="4" name="Image 0" descr="/tmp/verify4/present/icons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7086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ขั้นตอนถัดไป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18288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รับฟังผลการพิจารณาและข้อเสนอแนะจากคณะกรรมการ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715768"/>
            <a:ext cx="457200" cy="457200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63040" y="26700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ปรับปรุงระบบตามข้อเสนอแนะที่ได้รับ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3557016"/>
            <a:ext cx="457200" cy="457200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63040" y="351129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ทดสอบเชื่อมต่อฐานข้อมูลกลาง (PostgreSQL) สำหรับใช้งานหลายสำนักงานพร้อมกัน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22960" y="4398264"/>
            <a:ext cx="457200" cy="457200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463040" y="435254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จัดทำแนวทางคุ้มครองข้อมูลส่วนบุคคล (PDPA) ก่อนใช้ข้อมูลจริงของประชาชน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22960" y="5239512"/>
            <a:ext cx="457200" cy="457200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463040" y="519379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เปลี่ยนบัญชีทดสอบเป็นบัญชีจริง พร้อมอบรมการใช้งานก่อนเริ่มใช้จริง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22960" y="6080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ขอบคุณครับ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2026-08-22T17:37:49Z</dcterms:created>
  <dcterms:modified xsi:type="dcterms:W3CDTF">2026-08-22T17:37:49Z</dcterms:modified>
</cp:coreProperties>
</file>